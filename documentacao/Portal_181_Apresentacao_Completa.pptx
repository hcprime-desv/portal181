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ide_promotional_infographic_banner_for_a_disq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05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144768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</a:defRPr>
            </a:pPr>
            <a:r>
              <a:t>PORTAL 181 - Portal Digital do Disque Denúncia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619963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</a:defRPr>
            </a:pPr>
            <a:r>
              <a:t>Apresentação institucional e funcional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07365F"/>
                </a:solidFill>
              </a:defRPr>
            </a:pPr>
            <a:r>
              <a:t>VISÃO GERAL DO PORTAL 181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786384"/>
            <a:ext cx="10515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C6F80"/>
                </a:solidFill>
              </a:defRPr>
            </a:pPr>
            <a:r>
              <a:t>Um canal público digital para denúncia, informação, cidadania e colaboração com a segurança pública.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310896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100">
                <a:solidFill>
                  <a:srgbClr val="07365F"/>
                </a:solidFill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7365F"/>
                </a:solidFill>
              </a:defRPr>
            </a:pPr>
            <a:r>
              <a:t>Mais do que um site institucional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78308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C6F80"/>
                </a:solidFill>
              </a:defRPr>
            </a:pPr>
            <a:r>
              <a:t>O Portal 181 reúne os principais serviços públicos do Disque Denúncia em uma experiência única, simples, responsiva e orientada ao anonimato.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743200"/>
            <a:ext cx="4663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05233E"/>
                </a:solidFill>
              </a:defRPr>
            </a:pPr>
            <a:r>
              <a:t>• Denúncia digital anônima</a:t>
            </a:r>
          </a:p>
          <a:p>
            <a:pPr>
              <a:spcAft>
                <a:spcPts val="900"/>
              </a:spcAft>
              <a:defRPr sz="1300">
                <a:solidFill>
                  <a:srgbClr val="05233E"/>
                </a:solidFill>
              </a:defRPr>
            </a:pPr>
            <a:r>
              <a:t>• Consulta e complementação por protocolo</a:t>
            </a:r>
          </a:p>
          <a:p>
            <a:pPr>
              <a:spcAft>
                <a:spcPts val="900"/>
              </a:spcAft>
              <a:defRPr sz="1300">
                <a:solidFill>
                  <a:srgbClr val="05233E"/>
                </a:solidFill>
              </a:defRPr>
            </a:pPr>
            <a:r>
              <a:t>• Procurados pela Justiça</a:t>
            </a:r>
          </a:p>
          <a:p>
            <a:pPr>
              <a:spcAft>
                <a:spcPts val="900"/>
              </a:spcAft>
              <a:defRPr sz="1300">
                <a:solidFill>
                  <a:srgbClr val="05233E"/>
                </a:solidFill>
              </a:defRPr>
            </a:pPr>
            <a:r>
              <a:t>• Pessoas desaparecidas</a:t>
            </a:r>
          </a:p>
          <a:p>
            <a:pPr>
              <a:spcAft>
                <a:spcPts val="900"/>
              </a:spcAft>
              <a:defRPr sz="1300">
                <a:solidFill>
                  <a:srgbClr val="05233E"/>
                </a:solidFill>
              </a:defRPr>
            </a:pPr>
            <a:r>
              <a:t>• Baralho do Crime</a:t>
            </a:r>
          </a:p>
          <a:p>
            <a:pPr>
              <a:spcAft>
                <a:spcPts val="900"/>
              </a:spcAft>
              <a:defRPr sz="1300">
                <a:solidFill>
                  <a:srgbClr val="05233E"/>
                </a:solidFill>
              </a:defRPr>
            </a:pPr>
            <a:r>
              <a:t>• Recompensas</a:t>
            </a:r>
          </a:p>
          <a:p>
            <a:pPr>
              <a:spcAft>
                <a:spcPts val="900"/>
              </a:spcAft>
              <a:defRPr sz="1300">
                <a:solidFill>
                  <a:srgbClr val="05233E"/>
                </a:solidFill>
              </a:defRPr>
            </a:pPr>
            <a:r>
              <a:t>• Resultados e notícias</a:t>
            </a:r>
          </a:p>
          <a:p>
            <a:pPr>
              <a:spcAft>
                <a:spcPts val="900"/>
              </a:spcAft>
              <a:defRPr sz="1300">
                <a:solidFill>
                  <a:srgbClr val="05233E"/>
                </a:solidFill>
              </a:defRPr>
            </a:pPr>
            <a:r>
              <a:t>• Denúncias por tema</a:t>
            </a:r>
          </a:p>
          <a:p>
            <a:pPr>
              <a:spcAft>
                <a:spcPts val="900"/>
              </a:spcAft>
              <a:defRPr sz="1300">
                <a:solidFill>
                  <a:srgbClr val="05233E"/>
                </a:solidFill>
              </a:defRPr>
            </a:pPr>
            <a:r>
              <a:t>• Conteúdo institucional e orientações</a:t>
            </a:r>
          </a:p>
        </p:txBody>
      </p:sp>
      <p:pic>
        <p:nvPicPr>
          <p:cNvPr id="8" name="Picture 7" descr="3867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3239" y="1143000"/>
            <a:ext cx="4827121" cy="50749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5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6647688"/>
            <a:ext cx="112471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FFFFFF"/>
                </a:solidFill>
              </a:defRPr>
            </a:pPr>
            <a:r>
              <a:t>PORTAL 181  |  Anonimato • Segurança • Cidadania • Resultados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07365F"/>
                </a:solidFill>
              </a:defRPr>
            </a:pPr>
            <a:r>
              <a:t>HOME - A PORTA DE ENTRADA DO 181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786384"/>
            <a:ext cx="10515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C6F80"/>
                </a:solidFill>
              </a:defRPr>
            </a:pPr>
            <a:r>
              <a:t>A primeira tela prioriza rapidez, confiança e acesso imediato aos principais canais.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310896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100">
                <a:solidFill>
                  <a:srgbClr val="07365F"/>
                </a:solidFill>
              </a:defRPr>
            </a:pPr>
            <a:r>
              <a:t>03</a:t>
            </a:r>
          </a:p>
        </p:txBody>
      </p:sp>
      <p:pic>
        <p:nvPicPr>
          <p:cNvPr id="5" name="Picture 4" descr="3867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4209" y="1143000"/>
            <a:ext cx="2303621" cy="51206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663440" y="1280160"/>
            <a:ext cx="32004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800600" y="1444751"/>
            <a:ext cx="438912" cy="438912"/>
          </a:xfrm>
          <a:prstGeom prst="round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76672" y="1444751"/>
            <a:ext cx="2331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7365F"/>
                </a:solidFill>
              </a:defRPr>
            </a:pPr>
            <a:r>
              <a:t>FAÇA SUA DENÚNCIA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8031" y="1993391"/>
            <a:ext cx="28712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5C6F80"/>
                </a:solidFill>
              </a:defRPr>
            </a:pPr>
            <a:r>
              <a:t>Registro digital com fluxo guiado, sem exigir identificação.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1280160"/>
            <a:ext cx="32004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0" y="1444751"/>
            <a:ext cx="438912" cy="438912"/>
          </a:xfrm>
          <a:prstGeom prst="round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05672" y="1444751"/>
            <a:ext cx="2331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7365F"/>
                </a:solidFill>
              </a:defRPr>
            </a:pPr>
            <a:r>
              <a:t>ACOMPANHE O PROTOCOLO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57031" y="1993391"/>
            <a:ext cx="28712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5C6F80"/>
                </a:solidFill>
              </a:defRPr>
            </a:pPr>
            <a:r>
              <a:t>Consulta segura do andamento e possibilidade de complementação.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63440" y="2743200"/>
            <a:ext cx="32004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800600" y="2907792"/>
            <a:ext cx="438912" cy="438912"/>
          </a:xfrm>
          <a:prstGeom prst="roundRect">
            <a:avLst/>
          </a:prstGeom>
          <a:solidFill>
            <a:srgbClr val="24A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76672" y="2907792"/>
            <a:ext cx="2331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7365F"/>
                </a:solidFill>
              </a:defRPr>
            </a:pPr>
            <a:r>
              <a:t>LIGUE 181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1" y="3456432"/>
            <a:ext cx="28712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5C6F80"/>
                </a:solidFill>
              </a:defRPr>
            </a:pPr>
            <a:r>
              <a:t>Mantém o telefone tradicional como canal de atendimento.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2743200"/>
            <a:ext cx="32004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29600" y="2907792"/>
            <a:ext cx="438912" cy="438912"/>
          </a:xfrm>
          <a:prstGeom prst="roundRect">
            <a:avLst/>
          </a:prstGeom>
          <a:solidFill>
            <a:srgbClr val="073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05672" y="2907792"/>
            <a:ext cx="2331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7365F"/>
                </a:solidFill>
              </a:defRPr>
            </a:pPr>
            <a:r>
              <a:t>ACESSO RÁPIDO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3456432"/>
            <a:ext cx="28712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5C6F80"/>
                </a:solidFill>
              </a:defRPr>
            </a:pPr>
            <a:r>
              <a:t>Procurados, desaparecidos, recompensas, resultados e notícias.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4617720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ED1C24"/>
                </a:solidFill>
              </a:defRPr>
            </a:pPr>
            <a:r>
              <a:t>Mensagem central: VIU? SABE? DENUNCIE.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5166360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C6F80"/>
                </a:solidFill>
              </a:defRPr>
            </a:pPr>
            <a:r>
              <a:t>A identidade visual deve reforçar anonimato, segurança, sigilo e efetividade.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5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6647688"/>
            <a:ext cx="112471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FFFFFF"/>
                </a:solidFill>
              </a:defRPr>
            </a:pPr>
            <a:r>
              <a:t>PORTAL 181  |  Anonimato • Segurança • Cidadania • Resultados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07365F"/>
                </a:solidFill>
              </a:defRPr>
            </a:pPr>
            <a:r>
              <a:t>DENÚNCIA DIGITAL - FLUXO PASSO A PASSO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786384"/>
            <a:ext cx="10515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C6F80"/>
                </a:solidFill>
              </a:defRPr>
            </a:pPr>
            <a:r>
              <a:t>O cidadão informa somente o que souber; o sistema organiza a coleta.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310896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100">
                <a:solidFill>
                  <a:srgbClr val="07365F"/>
                </a:solidFill>
              </a:defRPr>
            </a:pPr>
            <a:r>
              <a:t>04</a:t>
            </a:r>
          </a:p>
        </p:txBody>
      </p:sp>
      <p:sp>
        <p:nvSpPr>
          <p:cNvPr id="5" name="Oval 4"/>
          <p:cNvSpPr/>
          <p:nvPr/>
        </p:nvSpPr>
        <p:spPr>
          <a:xfrm>
            <a:off x="594360" y="1417320"/>
            <a:ext cx="502920" cy="502920"/>
          </a:xfrm>
          <a:prstGeom prst="ellipse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52704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01168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7365F"/>
                </a:solidFill>
              </a:defRPr>
            </a:pPr>
            <a:r>
              <a:t>Tipo</a:t>
            </a:r>
          </a:p>
        </p:txBody>
      </p:sp>
      <p:sp>
        <p:nvSpPr>
          <p:cNvPr id="8" name="Rectangle 7"/>
          <p:cNvSpPr/>
          <p:nvPr/>
        </p:nvSpPr>
        <p:spPr>
          <a:xfrm>
            <a:off x="1115568" y="1645920"/>
            <a:ext cx="1051560" cy="36576"/>
          </a:xfrm>
          <a:prstGeom prst="rect">
            <a:avLst/>
          </a:prstGeom>
          <a:solidFill>
            <a:srgbClr val="DA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194560" y="1417320"/>
            <a:ext cx="502920" cy="502920"/>
          </a:xfrm>
          <a:prstGeom prst="ellipse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94560" y="152704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01168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7365F"/>
                </a:solidFill>
              </a:defRPr>
            </a:pPr>
            <a:r>
              <a:t>Relato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15768" y="1645920"/>
            <a:ext cx="1051560" cy="36576"/>
          </a:xfrm>
          <a:prstGeom prst="rect">
            <a:avLst/>
          </a:prstGeom>
          <a:solidFill>
            <a:srgbClr val="DA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794760" y="1417320"/>
            <a:ext cx="502920" cy="502920"/>
          </a:xfrm>
          <a:prstGeom prst="ellipse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94760" y="152704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01168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7365F"/>
                </a:solidFill>
              </a:defRPr>
            </a:pPr>
            <a:r>
              <a:t>Local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15968" y="1645920"/>
            <a:ext cx="1051560" cy="36576"/>
          </a:xfrm>
          <a:prstGeom prst="rect">
            <a:avLst/>
          </a:prstGeom>
          <a:solidFill>
            <a:srgbClr val="DA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394960" y="1417320"/>
            <a:ext cx="502920" cy="502920"/>
          </a:xfrm>
          <a:prstGeom prst="ellipse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94960" y="152704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201168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7365F"/>
                </a:solidFill>
              </a:defRPr>
            </a:pPr>
            <a:r>
              <a:t>Envolvidos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16168" y="1645920"/>
            <a:ext cx="1051560" cy="36576"/>
          </a:xfrm>
          <a:prstGeom prst="rect">
            <a:avLst/>
          </a:prstGeom>
          <a:solidFill>
            <a:srgbClr val="DA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995160" y="1417320"/>
            <a:ext cx="502920" cy="502920"/>
          </a:xfrm>
          <a:prstGeom prst="ellipse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95160" y="152704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201168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7365F"/>
                </a:solidFill>
              </a:defRPr>
            </a:pPr>
            <a:r>
              <a:t>Veículos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16368" y="1645920"/>
            <a:ext cx="1051560" cy="36576"/>
          </a:xfrm>
          <a:prstGeom prst="rect">
            <a:avLst/>
          </a:prstGeom>
          <a:solidFill>
            <a:srgbClr val="DA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595360" y="1417320"/>
            <a:ext cx="502920" cy="502920"/>
          </a:xfrm>
          <a:prstGeom prst="ellipse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95360" y="152704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201168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7365F"/>
                </a:solidFill>
              </a:defRPr>
            </a:pPr>
            <a:r>
              <a:t>Anexos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16568" y="1645920"/>
            <a:ext cx="1051560" cy="36576"/>
          </a:xfrm>
          <a:prstGeom prst="rect">
            <a:avLst/>
          </a:prstGeom>
          <a:solidFill>
            <a:srgbClr val="DA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95560" y="1417320"/>
            <a:ext cx="502920" cy="502920"/>
          </a:xfrm>
          <a:prstGeom prst="ellipse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95560" y="152704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66960" y="201168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7365F"/>
                </a:solidFill>
              </a:defRPr>
            </a:pPr>
            <a:r>
              <a:t>Revisão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2743200"/>
            <a:ext cx="347472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31520" y="2907792"/>
            <a:ext cx="438912" cy="438912"/>
          </a:xfrm>
          <a:prstGeom prst="round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07592" y="2907792"/>
            <a:ext cx="2606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7365F"/>
                </a:solidFill>
              </a:defRPr>
            </a:pPr>
            <a:r>
              <a:t>CLASSIFICAÇÃO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8952" y="3456432"/>
            <a:ext cx="3145536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5C6F80"/>
                </a:solidFill>
              </a:defRPr>
            </a:pPr>
            <a:r>
              <a:t>Categorias como tráfico de drogas, homicídio, violência contra a mulher, roubo e furto, corrupção, crime ambiental, armas e outros.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43400" y="2743200"/>
            <a:ext cx="347472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480560" y="2907792"/>
            <a:ext cx="438912" cy="438912"/>
          </a:xfrm>
          <a:prstGeom prst="round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56632" y="2907792"/>
            <a:ext cx="2606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7365F"/>
                </a:solidFill>
              </a:defRPr>
            </a:pPr>
            <a:r>
              <a:t>LOCAL E ENVOLVIDOS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07992" y="3456432"/>
            <a:ext cx="3145536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5C6F80"/>
                </a:solidFill>
              </a:defRPr>
            </a:pPr>
            <a:r>
              <a:t>Município, bairro, endereço, ponto de referência, características, apelidos e demais informações conhecidas.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92440" y="2743200"/>
            <a:ext cx="347472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229600" y="2907792"/>
            <a:ext cx="438912" cy="438912"/>
          </a:xfrm>
          <a:prstGeom prst="roundRect">
            <a:avLst/>
          </a:prstGeom>
          <a:solidFill>
            <a:srgbClr val="073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805672" y="2907792"/>
            <a:ext cx="2606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7365F"/>
                </a:solidFill>
              </a:defRPr>
            </a:pPr>
            <a:r>
              <a:t>PROVAS E ANEXOS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57031" y="3456432"/>
            <a:ext cx="3145536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5C6F80"/>
                </a:solidFill>
              </a:defRPr>
            </a:pPr>
            <a:r>
              <a:t>Fotos, vídeos, áudios e documentos podem complementar a informação, conforme regras de segurança e armazenamento.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5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1480" y="6647688"/>
            <a:ext cx="112471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FFFFFF"/>
                </a:solidFill>
              </a:defRPr>
            </a:pPr>
            <a:r>
              <a:t>PORTAL 181  |  Anonimato • Segurança • Cidadania • Resultados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07365F"/>
                </a:solidFill>
              </a:defRPr>
            </a:pPr>
            <a:r>
              <a:t>PROTOCOLO, ACOMPANHAMENTO E COMPLEMENTO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786384"/>
            <a:ext cx="10515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C6F80"/>
                </a:solidFill>
              </a:defRPr>
            </a:pPr>
            <a:r>
              <a:t>O denunciante acompanha sem precisar se identificar.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310896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100">
                <a:solidFill>
                  <a:srgbClr val="07365F"/>
                </a:solidFill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7365F"/>
                </a:solidFill>
              </a:defRPr>
            </a:pPr>
            <a:r>
              <a:t>181-2026-00012345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965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C6F80"/>
                </a:solidFill>
              </a:defRPr>
            </a:pPr>
            <a:r>
              <a:t>Protocolo + código de segurança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2743200"/>
            <a:ext cx="292608" cy="292608"/>
          </a:xfrm>
          <a:prstGeom prst="ellipse">
            <a:avLst/>
          </a:prstGeom>
          <a:solidFill>
            <a:srgbClr val="24A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7249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7365F"/>
                </a:solidFill>
              </a:defRPr>
            </a:pPr>
            <a:r>
              <a:t>Recebida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3364992"/>
            <a:ext cx="292608" cy="292608"/>
          </a:xfrm>
          <a:prstGeom prst="ellipse">
            <a:avLst/>
          </a:prstGeom>
          <a:solidFill>
            <a:srgbClr val="24A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34670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7365F"/>
                </a:solidFill>
              </a:defRPr>
            </a:pPr>
            <a:r>
              <a:t>Em análise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3986784"/>
            <a:ext cx="292608" cy="292608"/>
          </a:xfrm>
          <a:prstGeom prst="ellipse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96849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7365F"/>
                </a:solidFill>
              </a:defRPr>
            </a:pPr>
            <a:r>
              <a:t>Encaminhada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4608576"/>
            <a:ext cx="292608" cy="292608"/>
          </a:xfrm>
          <a:prstGeom prst="ellipse">
            <a:avLst/>
          </a:prstGeom>
          <a:solidFill>
            <a:srgbClr val="A5B4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590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7365F"/>
                </a:solidFill>
              </a:defRPr>
            </a:pPr>
            <a:r>
              <a:t>Em apuração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" y="5230368"/>
            <a:ext cx="292608" cy="292608"/>
          </a:xfrm>
          <a:prstGeom prst="ellipse">
            <a:avLst/>
          </a:prstGeom>
          <a:solidFill>
            <a:srgbClr val="A5B4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5212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7365F"/>
                </a:solidFill>
              </a:defRPr>
            </a:pPr>
            <a:r>
              <a:t>Concluída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00600" y="1417320"/>
            <a:ext cx="29718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937760" y="1581912"/>
            <a:ext cx="438912" cy="438912"/>
          </a:xfrm>
          <a:prstGeom prst="round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13832" y="1581912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7365F"/>
                </a:solidFill>
              </a:defRPr>
            </a:pPr>
            <a:r>
              <a:t>CONSULTAR ANDAMENTO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65192" y="2130552"/>
            <a:ext cx="264261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5C6F80"/>
                </a:solidFill>
              </a:defRPr>
            </a:pPr>
            <a:r>
              <a:t>Exibe somente marcos públicos do fluxo, sem revelar diligências ou informações sensíveis.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1417320"/>
            <a:ext cx="29718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183880" y="1581912"/>
            <a:ext cx="438912" cy="438912"/>
          </a:xfrm>
          <a:prstGeom prst="round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59952" y="1581912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7365F"/>
                </a:solidFill>
              </a:defRPr>
            </a:pPr>
            <a:r>
              <a:t>ENVIAR COMPLEMENTO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1312" y="2130552"/>
            <a:ext cx="264261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5C6F80"/>
                </a:solidFill>
              </a:defRPr>
            </a:pPr>
            <a:r>
              <a:t>O cidadão pode acrescentar uma nova pista ou anexo ao mesmo protocolo.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00600" y="3566160"/>
            <a:ext cx="6217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937760" y="3730752"/>
            <a:ext cx="438912" cy="438912"/>
          </a:xfrm>
          <a:prstGeom prst="roundRect">
            <a:avLst/>
          </a:prstGeom>
          <a:solidFill>
            <a:srgbClr val="073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13832" y="3730752"/>
            <a:ext cx="5349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7365F"/>
                </a:solidFill>
              </a:defRPr>
            </a:pPr>
            <a:r>
              <a:t>PRIVACIDADE POR PROJETO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65192" y="4279392"/>
            <a:ext cx="588873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5C6F80"/>
                </a:solidFill>
              </a:defRPr>
            </a:pPr>
            <a:r>
              <a:t>A camada pública deve ser separada dos dados internos de inteligência e investigação, com perfis, logs e regras de exposição.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5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6647688"/>
            <a:ext cx="112471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FFFFFF"/>
                </a:solidFill>
              </a:defRPr>
            </a:pPr>
            <a:r>
              <a:t>PORTAL 181  |  Anonimato • Segurança • Cidadania • Resultados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07365F"/>
                </a:solidFill>
              </a:defRPr>
            </a:pPr>
            <a:r>
              <a:t>PROCURADOS PELA JUSTIÇA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786384"/>
            <a:ext cx="10515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C6F80"/>
                </a:solidFill>
              </a:defRPr>
            </a:pPr>
            <a:r>
              <a:t>Uma vitrine pública para ampliar a capacidade de localização.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310896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100">
                <a:solidFill>
                  <a:srgbClr val="07365F"/>
                </a:solidFill>
              </a:defRPr>
            </a:pPr>
            <a:r>
              <a:t>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56616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490472"/>
            <a:ext cx="438912" cy="438912"/>
          </a:xfrm>
          <a:prstGeom prst="round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61872" y="1490472"/>
            <a:ext cx="2697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7365F"/>
                </a:solidFill>
              </a:defRPr>
            </a:pPr>
            <a:r>
              <a:t>LISTAGEM E FILTROS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039112"/>
            <a:ext cx="3236976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5C6F80"/>
                </a:solidFill>
              </a:defRPr>
            </a:pPr>
            <a:r>
              <a:t>Busca por nome, apelido, município, categoria e outros filtros autorizados.</a:t>
            </a:r>
            <a:br/>
            <a:br/>
            <a:r>
              <a:t>Cards com foto, nome, situação e chamada 'Tenho uma informação'.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1325880"/>
            <a:ext cx="356616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53128" y="1490472"/>
            <a:ext cx="438912" cy="438912"/>
          </a:xfrm>
          <a:prstGeom prst="round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0" y="1490472"/>
            <a:ext cx="2697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7365F"/>
                </a:solidFill>
              </a:defRPr>
            </a:pPr>
            <a:r>
              <a:t>PÁGINA DO PROCURADO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59" y="2039112"/>
            <a:ext cx="3236976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5C6F80"/>
                </a:solidFill>
              </a:defRPr>
            </a:pPr>
            <a:r>
              <a:t>Ficha pública com dados autorizados, fotografia, apelidos, região de interesse e órgão responsável.</a:t>
            </a:r>
            <a:br/>
            <a:br/>
            <a:r>
              <a:t>O botão de denúncia já vincula automaticamente o caso.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3296" y="1325880"/>
            <a:ext cx="356616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0456" y="1490472"/>
            <a:ext cx="438912" cy="438912"/>
          </a:xfrm>
          <a:prstGeom prst="roundRect">
            <a:avLst/>
          </a:prstGeom>
          <a:solidFill>
            <a:srgbClr val="073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96528" y="1490472"/>
            <a:ext cx="2697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7365F"/>
                </a:solidFill>
              </a:defRPr>
            </a:pPr>
            <a:r>
              <a:t>GESTÃO PELO CMS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2039112"/>
            <a:ext cx="3236976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5C6F80"/>
                </a:solidFill>
              </a:defRPr>
            </a:pPr>
            <a:r>
              <a:t>Publicação, atualização, retirada de circulação e histórico administrativo ficam sob controle de usuários autorizados.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5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6647688"/>
            <a:ext cx="112471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FFFFFF"/>
                </a:solidFill>
              </a:defRPr>
            </a:pPr>
            <a:r>
              <a:t>PORTAL 181  |  Anonimato • Segurança • Cidadania • Resultados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07365F"/>
                </a:solidFill>
              </a:defRPr>
            </a:pPr>
            <a:r>
              <a:t>BARALHO DO CRIME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786384"/>
            <a:ext cx="10515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C6F80"/>
                </a:solidFill>
              </a:defRPr>
            </a:pPr>
            <a:r>
              <a:t>Uma seção de destaque para procurados prioritários, organizada em formato visual de cartas.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310896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100">
                <a:solidFill>
                  <a:srgbClr val="07365F"/>
                </a:solidFill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07365F"/>
                </a:solidFill>
              </a:defRPr>
            </a:pPr>
            <a:r>
              <a:t>BARALHO DO CRIME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874519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C6F80"/>
                </a:solidFill>
              </a:defRPr>
            </a:pPr>
            <a:r>
              <a:t>Cada carta representa um procurado priorizado pela autoridade responsável e direciona o cidadão para a ficha pública e para o canal de denúncia.</a:t>
            </a:r>
          </a:p>
        </p:txBody>
      </p:sp>
      <p:sp>
        <p:nvSpPr>
          <p:cNvPr id="7" name="Rounded Rectangle 6"/>
          <p:cNvSpPr/>
          <p:nvPr/>
        </p:nvSpPr>
        <p:spPr>
          <a:xfrm rot="21300000">
            <a:off x="5486400" y="1371600"/>
            <a:ext cx="123444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77840" y="15087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7365F"/>
                </a:solidFill>
              </a:defRPr>
            </a:pPr>
            <a:r>
              <a:t>A♠</a:t>
            </a:r>
          </a:p>
        </p:txBody>
      </p:sp>
      <p:sp>
        <p:nvSpPr>
          <p:cNvPr id="9" name="Oval 8"/>
          <p:cNvSpPr/>
          <p:nvPr/>
        </p:nvSpPr>
        <p:spPr>
          <a:xfrm>
            <a:off x="5715000" y="2057400"/>
            <a:ext cx="777240" cy="777240"/>
          </a:xfrm>
          <a:prstGeom prst="ellipse">
            <a:avLst/>
          </a:prstGeom>
          <a:solidFill>
            <a:srgbClr val="CDD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42432" y="2340864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5C6F80"/>
                </a:solidFill>
              </a:defRPr>
            </a:pPr>
            <a:r>
              <a:t>FOTO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59552" y="4069080"/>
            <a:ext cx="1078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D1C24"/>
                </a:solidFill>
              </a:defRPr>
            </a:pPr>
            <a:r>
              <a:t>LÍDER</a:t>
            </a:r>
          </a:p>
        </p:txBody>
      </p:sp>
      <p:sp>
        <p:nvSpPr>
          <p:cNvPr id="12" name="Rounded Rectangle 11"/>
          <p:cNvSpPr/>
          <p:nvPr/>
        </p:nvSpPr>
        <p:spPr>
          <a:xfrm rot="180000">
            <a:off x="6995160" y="1371600"/>
            <a:ext cx="123444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86600" y="15087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7365F"/>
                </a:solidFill>
              </a:defRPr>
            </a:pPr>
            <a:r>
              <a:t>K♣</a:t>
            </a:r>
          </a:p>
        </p:txBody>
      </p:sp>
      <p:sp>
        <p:nvSpPr>
          <p:cNvPr id="14" name="Oval 13"/>
          <p:cNvSpPr/>
          <p:nvPr/>
        </p:nvSpPr>
        <p:spPr>
          <a:xfrm>
            <a:off x="7223760" y="2057400"/>
            <a:ext cx="777240" cy="777240"/>
          </a:xfrm>
          <a:prstGeom prst="ellipse">
            <a:avLst/>
          </a:prstGeom>
          <a:solidFill>
            <a:srgbClr val="CDD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51192" y="2340864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5C6F80"/>
                </a:solidFill>
              </a:defRPr>
            </a:pPr>
            <a:r>
              <a:t>FOTO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68312" y="4069080"/>
            <a:ext cx="1078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D1C24"/>
                </a:solidFill>
              </a:defRPr>
            </a:pPr>
            <a:r>
              <a:t>TRÁFICO</a:t>
            </a:r>
          </a:p>
        </p:txBody>
      </p:sp>
      <p:sp>
        <p:nvSpPr>
          <p:cNvPr id="17" name="Rounded Rectangle 16"/>
          <p:cNvSpPr/>
          <p:nvPr/>
        </p:nvSpPr>
        <p:spPr>
          <a:xfrm rot="21420000">
            <a:off x="8503920" y="1371600"/>
            <a:ext cx="123444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0" y="15087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7365F"/>
                </a:solidFill>
              </a:defRPr>
            </a:pPr>
            <a:r>
              <a:t>Q♦</a:t>
            </a:r>
          </a:p>
        </p:txBody>
      </p:sp>
      <p:sp>
        <p:nvSpPr>
          <p:cNvPr id="19" name="Oval 18"/>
          <p:cNvSpPr/>
          <p:nvPr/>
        </p:nvSpPr>
        <p:spPr>
          <a:xfrm>
            <a:off x="8732520" y="2057400"/>
            <a:ext cx="777240" cy="777240"/>
          </a:xfrm>
          <a:prstGeom prst="ellipse">
            <a:avLst/>
          </a:prstGeom>
          <a:solidFill>
            <a:srgbClr val="CDD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59952" y="2340864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5C6F80"/>
                </a:solidFill>
              </a:defRPr>
            </a:pPr>
            <a:r>
              <a:t>FOTO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77072" y="4069080"/>
            <a:ext cx="1078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D1C24"/>
                </a:solidFill>
              </a:defRPr>
            </a:pPr>
            <a:r>
              <a:t>HOMICÍDIO</a:t>
            </a:r>
          </a:p>
        </p:txBody>
      </p:sp>
      <p:sp>
        <p:nvSpPr>
          <p:cNvPr id="22" name="Rounded Rectangle 21"/>
          <p:cNvSpPr/>
          <p:nvPr/>
        </p:nvSpPr>
        <p:spPr>
          <a:xfrm rot="300000">
            <a:off x="10012680" y="1371600"/>
            <a:ext cx="123444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04119" y="15087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7365F"/>
                </a:solidFill>
              </a:defRPr>
            </a:pPr>
            <a:r>
              <a:t>J♥</a:t>
            </a:r>
          </a:p>
        </p:txBody>
      </p:sp>
      <p:sp>
        <p:nvSpPr>
          <p:cNvPr id="24" name="Oval 23"/>
          <p:cNvSpPr/>
          <p:nvPr/>
        </p:nvSpPr>
        <p:spPr>
          <a:xfrm>
            <a:off x="10241280" y="2057400"/>
            <a:ext cx="777240" cy="777240"/>
          </a:xfrm>
          <a:prstGeom prst="ellipse">
            <a:avLst/>
          </a:prstGeom>
          <a:solidFill>
            <a:srgbClr val="CDD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8711" y="2340864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5C6F80"/>
                </a:solidFill>
              </a:defRPr>
            </a:pPr>
            <a:r>
              <a:t>FOTO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85832" y="4069080"/>
            <a:ext cx="10789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D1C24"/>
                </a:solidFill>
              </a:defRPr>
            </a:pPr>
            <a:r>
              <a:t>OUTRO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3429000"/>
            <a:ext cx="4480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00">
                <a:solidFill>
                  <a:srgbClr val="05233E"/>
                </a:solidFill>
              </a:defRPr>
            </a:pPr>
            <a:r>
              <a:t>• Destaque para alvos prioritários</a:t>
            </a:r>
          </a:p>
          <a:p>
            <a:pPr>
              <a:spcAft>
                <a:spcPts val="900"/>
              </a:spcAft>
              <a:defRPr sz="1200">
                <a:solidFill>
                  <a:srgbClr val="05233E"/>
                </a:solidFill>
              </a:defRPr>
            </a:pPr>
            <a:r>
              <a:t>• Atualização pelo painel administrativo</a:t>
            </a:r>
          </a:p>
          <a:p>
            <a:pPr>
              <a:spcAft>
                <a:spcPts val="900"/>
              </a:spcAft>
              <a:defRPr sz="1200">
                <a:solidFill>
                  <a:srgbClr val="05233E"/>
                </a:solidFill>
              </a:defRPr>
            </a:pPr>
            <a:r>
              <a:t>• Integração direta com 'Tenho uma informação'</a:t>
            </a:r>
          </a:p>
          <a:p>
            <a:pPr>
              <a:spcAft>
                <a:spcPts val="900"/>
              </a:spcAft>
              <a:defRPr sz="1200">
                <a:solidFill>
                  <a:srgbClr val="05233E"/>
                </a:solidFill>
              </a:defRPr>
            </a:pPr>
            <a:r>
              <a:t>• Possibilidade de organizar por naipe, categoria ou prioridade institucional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5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6647688"/>
            <a:ext cx="112471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FFFFFF"/>
                </a:solidFill>
              </a:defRPr>
            </a:pPr>
            <a:r>
              <a:t>PORTAL 181  |  Anonimato • Segurança • Cidadania • Resultados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07365F"/>
                </a:solidFill>
              </a:defRPr>
            </a:pPr>
            <a:r>
              <a:t>PESSOAS DESAPARECIDAS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786384"/>
            <a:ext cx="10515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C6F80"/>
                </a:solidFill>
              </a:defRPr>
            </a:pPr>
            <a:r>
              <a:t>A população pode ajudar a localizar pessoas a partir de informações públicas autorizadas.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310896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100">
                <a:solidFill>
                  <a:srgbClr val="07365F"/>
                </a:solidFill>
              </a:defRPr>
            </a:pPr>
            <a:r>
              <a:t>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34290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81912"/>
            <a:ext cx="438912" cy="438912"/>
          </a:xfrm>
          <a:prstGeom prst="round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07592" y="158191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7365F"/>
                </a:solidFill>
              </a:defRPr>
            </a:pPr>
            <a:r>
              <a:t>BUSCA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130552"/>
            <a:ext cx="3099816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5C6F80"/>
                </a:solidFill>
              </a:defRPr>
            </a:pPr>
            <a:r>
              <a:t>Pesquisa por nome, município, faixa etária, data ou outros campos públicos definidos pela administração.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417320"/>
            <a:ext cx="34290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07992" y="1581912"/>
            <a:ext cx="438912" cy="438912"/>
          </a:xfrm>
          <a:prstGeom prst="roundRect">
            <a:avLst/>
          </a:prstGeom>
          <a:solidFill>
            <a:srgbClr val="073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84064" y="158191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7365F"/>
                </a:solidFill>
              </a:defRPr>
            </a:pPr>
            <a:r>
              <a:t>FICHA PÚBLICA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5424" y="2130552"/>
            <a:ext cx="3099816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5C6F80"/>
                </a:solidFill>
              </a:defRPr>
            </a:pPr>
            <a:r>
              <a:t>Foto, nome, idade, data/local do desaparecimento e orientações para quem possuir informações.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47304" y="1417320"/>
            <a:ext cx="34290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84464" y="1581912"/>
            <a:ext cx="438912" cy="438912"/>
          </a:xfrm>
          <a:prstGeom prst="roundRect">
            <a:avLst/>
          </a:prstGeom>
          <a:solidFill>
            <a:srgbClr val="24A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0536" y="158191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7365F"/>
                </a:solidFill>
              </a:defRPr>
            </a:pPr>
            <a:r>
              <a:t>COLABORAÇÃO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1896" y="2130552"/>
            <a:ext cx="3099816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5C6F80"/>
                </a:solidFill>
              </a:defRPr>
            </a:pPr>
            <a:r>
              <a:t>O cidadão envia pistas pelo Portal 181 sem precisar revelar sua identidade, vinculando a informação ao caso.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5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6647688"/>
            <a:ext cx="112471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FFFFFF"/>
                </a:solidFill>
              </a:defRPr>
            </a:pPr>
            <a:r>
              <a:t>PORTAL 181  |  Anonimato • Segurança • Cidadania • Resultados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07365F"/>
                </a:solidFill>
              </a:defRPr>
            </a:pPr>
            <a:r>
              <a:t>RECOMPENSAS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786384"/>
            <a:ext cx="10515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C6F80"/>
                </a:solidFill>
              </a:defRPr>
            </a:pPr>
            <a:r>
              <a:t>Casos oficialmente autorizados podem ganhar uma área específica de divulgação.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310896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100">
                <a:solidFill>
                  <a:srgbClr val="07365F"/>
                </a:solidFill>
              </a:defRPr>
            </a:pPr>
            <a: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3840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D1C24"/>
                </a:solidFill>
              </a:defRPr>
            </a:pPr>
            <a:r>
              <a:t>ATÉ R$ 50.000,00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10312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C6F80"/>
                </a:solidFill>
              </a:defRPr>
            </a:pPr>
            <a:r>
              <a:t>Exemplo visual de chamada de recompensa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743200"/>
            <a:ext cx="4206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05233E"/>
                </a:solidFill>
              </a:defRPr>
            </a:pPr>
            <a:r>
              <a:t>• Valor ou faixa de recompensa</a:t>
            </a:r>
          </a:p>
          <a:p>
            <a:pPr>
              <a:spcAft>
                <a:spcPts val="900"/>
              </a:spcAft>
              <a:defRPr sz="1300">
                <a:solidFill>
                  <a:srgbClr val="05233E"/>
                </a:solidFill>
              </a:defRPr>
            </a:pPr>
            <a:r>
              <a:t>• Descrição resumida do caso</a:t>
            </a:r>
          </a:p>
          <a:p>
            <a:pPr>
              <a:spcAft>
                <a:spcPts val="900"/>
              </a:spcAft>
              <a:defRPr sz="1300">
                <a:solidFill>
                  <a:srgbClr val="05233E"/>
                </a:solidFill>
              </a:defRPr>
            </a:pPr>
            <a:r>
              <a:t>• Critérios e regras de elegibilidade</a:t>
            </a:r>
          </a:p>
          <a:p>
            <a:pPr>
              <a:spcAft>
                <a:spcPts val="900"/>
              </a:spcAft>
              <a:defRPr sz="1300">
                <a:solidFill>
                  <a:srgbClr val="05233E"/>
                </a:solidFill>
              </a:defRPr>
            </a:pPr>
            <a:r>
              <a:t>• Prazo de validade, quando aplicável</a:t>
            </a:r>
          </a:p>
          <a:p>
            <a:pPr>
              <a:spcAft>
                <a:spcPts val="900"/>
              </a:spcAft>
              <a:defRPr sz="1300">
                <a:solidFill>
                  <a:srgbClr val="05233E"/>
                </a:solidFill>
              </a:defRPr>
            </a:pPr>
            <a:r>
              <a:t>• Botão 'Tenho uma informação'</a:t>
            </a:r>
          </a:p>
          <a:p>
            <a:pPr>
              <a:spcAft>
                <a:spcPts val="900"/>
              </a:spcAft>
              <a:defRPr sz="1300">
                <a:solidFill>
                  <a:srgbClr val="05233E"/>
                </a:solidFill>
              </a:defRPr>
            </a:pPr>
            <a:r>
              <a:t>• Histórico e retirada controlados pelo CMS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1417320"/>
            <a:ext cx="557784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23560" y="1581912"/>
            <a:ext cx="438912" cy="438912"/>
          </a:xfrm>
          <a:prstGeom prst="roundRect">
            <a:avLst/>
          </a:prstGeom>
          <a:solidFill>
            <a:srgbClr val="F2C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99632" y="1581912"/>
            <a:ext cx="47091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7365F"/>
                </a:solidFill>
              </a:defRPr>
            </a:pPr>
            <a:r>
              <a:t>IMPORTANTE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50992" y="2130552"/>
            <a:ext cx="5248655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5C6F80"/>
                </a:solidFill>
              </a:defRPr>
            </a:pPr>
            <a:r>
              <a:t>A publicação de recompensas deve refletir somente casos e valores formalmente autorizados pela autoridade competente. O portal atua como canal de divulgação e recebimento de informações, com conteúdo administrado pelo órgão responsável.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5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6647688"/>
            <a:ext cx="112471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FFFFFF"/>
                </a:solidFill>
              </a:defRPr>
            </a:pPr>
            <a:r>
              <a:t>PORTAL 181  |  Anonimato • Segurança • Cidadania • Resultados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07365F"/>
                </a:solidFill>
              </a:defRPr>
            </a:pPr>
            <a:r>
              <a:t>DENÚNCIAS POR TEMA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786384"/>
            <a:ext cx="10515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C6F80"/>
                </a:solidFill>
              </a:defRPr>
            </a:pPr>
            <a:r>
              <a:t>Atalhos ajudam o cidadão a reconhecer rapidamente o assunto da denúncia.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310896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100">
                <a:solidFill>
                  <a:srgbClr val="07365F"/>
                </a:solidFill>
              </a:defRPr>
            </a:pPr>
            <a: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2514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90472"/>
            <a:ext cx="438912" cy="438912"/>
          </a:xfrm>
          <a:prstGeom prst="round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07592" y="149047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7365F"/>
                </a:solidFill>
              </a:defRPr>
            </a:pPr>
            <a:r>
              <a:t>Tráfico de drogas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039112"/>
            <a:ext cx="21854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5C6F80"/>
                </a:solidFill>
              </a:defRPr>
            </a:pPr>
            <a:r>
              <a:t>Acesso direto ao fluxo de denúncia com categoria pré-selecionada.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79" y="1325880"/>
            <a:ext cx="2514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520439" y="1490472"/>
            <a:ext cx="438912" cy="438912"/>
          </a:xfrm>
          <a:prstGeom prst="round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96511" y="149047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7365F"/>
                </a:solidFill>
              </a:defRPr>
            </a:pPr>
            <a:r>
              <a:t>Homicídio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7872" y="2039112"/>
            <a:ext cx="21854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5C6F80"/>
                </a:solidFill>
              </a:defRPr>
            </a:pPr>
            <a:r>
              <a:t>Acesso direto ao fluxo de denúncia com categoria pré-selecionada.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325880"/>
            <a:ext cx="2514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09360" y="1490472"/>
            <a:ext cx="438912" cy="438912"/>
          </a:xfrm>
          <a:prstGeom prst="roundRect">
            <a:avLst/>
          </a:prstGeom>
          <a:solidFill>
            <a:srgbClr val="073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85432" y="149047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7365F"/>
                </a:solidFill>
              </a:defRPr>
            </a:pPr>
            <a:r>
              <a:t>Violência contra a mulher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36792" y="2039112"/>
            <a:ext cx="21854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5C6F80"/>
                </a:solidFill>
              </a:defRPr>
            </a:pPr>
            <a:r>
              <a:t>Acesso direto ao fluxo de denúncia com categoria pré-selecionada.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19" y="1325880"/>
            <a:ext cx="2514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098280" y="1490472"/>
            <a:ext cx="438912" cy="438912"/>
          </a:xfrm>
          <a:prstGeom prst="roundRect">
            <a:avLst/>
          </a:prstGeom>
          <a:solidFill>
            <a:srgbClr val="24A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74351" y="149047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7365F"/>
                </a:solidFill>
              </a:defRPr>
            </a:pPr>
            <a:r>
              <a:t>Crime ambiental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25711" y="2039112"/>
            <a:ext cx="21854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5C6F80"/>
                </a:solidFill>
              </a:defRPr>
            </a:pPr>
            <a:r>
              <a:t>Acesso direto ao fluxo de denúncia com categoria pré-selecionada.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2834639"/>
            <a:ext cx="2514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31520" y="2999232"/>
            <a:ext cx="438912" cy="438912"/>
          </a:xfrm>
          <a:prstGeom prst="round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07592" y="299923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7365F"/>
                </a:solidFill>
              </a:defRPr>
            </a:pPr>
            <a:r>
              <a:t>Organizações criminosas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" y="3547872"/>
            <a:ext cx="21854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5C6F80"/>
                </a:solidFill>
              </a:defRPr>
            </a:pPr>
            <a:r>
              <a:t>Acesso direto ao fluxo de denúncia com categoria pré-selecionada.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83279" y="2834639"/>
            <a:ext cx="2514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520439" y="2999232"/>
            <a:ext cx="438912" cy="438912"/>
          </a:xfrm>
          <a:prstGeom prst="round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096511" y="299923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7365F"/>
                </a:solidFill>
              </a:defRPr>
            </a:pPr>
            <a:r>
              <a:t>Corrupção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47872" y="3547872"/>
            <a:ext cx="21854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5C6F80"/>
                </a:solidFill>
              </a:defRPr>
            </a:pPr>
            <a:r>
              <a:t>Acesso direto ao fluxo de denúncia com categoria pré-selecionada.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72200" y="2834639"/>
            <a:ext cx="2514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309360" y="2999232"/>
            <a:ext cx="438912" cy="438912"/>
          </a:xfrm>
          <a:prstGeom prst="roundRect">
            <a:avLst/>
          </a:prstGeom>
          <a:solidFill>
            <a:srgbClr val="073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85432" y="299923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7365F"/>
                </a:solidFill>
              </a:defRPr>
            </a:pPr>
            <a:r>
              <a:t>Roubo e furto de veículos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36792" y="3547872"/>
            <a:ext cx="21854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5C6F80"/>
                </a:solidFill>
              </a:defRPr>
            </a:pPr>
            <a:r>
              <a:t>Acesso direto ao fluxo de denúncia com categoria pré-selecionada.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61119" y="2834639"/>
            <a:ext cx="2514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098280" y="2999232"/>
            <a:ext cx="438912" cy="438912"/>
          </a:xfrm>
          <a:prstGeom prst="roundRect">
            <a:avLst/>
          </a:prstGeom>
          <a:solidFill>
            <a:srgbClr val="24A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74351" y="299923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7365F"/>
                </a:solidFill>
              </a:defRPr>
            </a:pPr>
            <a:r>
              <a:t>Maus-tratos a animais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25711" y="3547872"/>
            <a:ext cx="21854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5C6F80"/>
                </a:solidFill>
              </a:defRPr>
            </a:pPr>
            <a:r>
              <a:t>Acesso direto ao fluxo de denúncia com categoria pré-selecionada.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4360" y="4343400"/>
            <a:ext cx="2514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31520" y="4507992"/>
            <a:ext cx="438912" cy="438912"/>
          </a:xfrm>
          <a:prstGeom prst="round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307592" y="450799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7365F"/>
                </a:solidFill>
              </a:defRPr>
            </a:pPr>
            <a:r>
              <a:t>Armas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8952" y="5056632"/>
            <a:ext cx="21854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5C6F80"/>
                </a:solidFill>
              </a:defRPr>
            </a:pPr>
            <a:r>
              <a:t>Acesso direto ao fluxo de denúncia com categoria pré-selecionada.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383279" y="4343400"/>
            <a:ext cx="2514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3520439" y="4507992"/>
            <a:ext cx="438912" cy="438912"/>
          </a:xfrm>
          <a:prstGeom prst="round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096511" y="450799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7365F"/>
                </a:solidFill>
              </a:defRPr>
            </a:pPr>
            <a:r>
              <a:t>Exploração infantil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47872" y="5056632"/>
            <a:ext cx="21854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5C6F80"/>
                </a:solidFill>
              </a:defRPr>
            </a:pPr>
            <a:r>
              <a:t>Acesso direto ao fluxo de denúncia com categoria pré-selecionada.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172200" y="4343400"/>
            <a:ext cx="2514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309360" y="4507992"/>
            <a:ext cx="438912" cy="438912"/>
          </a:xfrm>
          <a:prstGeom prst="roundRect">
            <a:avLst/>
          </a:prstGeom>
          <a:solidFill>
            <a:srgbClr val="073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85432" y="450799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7365F"/>
                </a:solidFill>
              </a:defRPr>
            </a:pPr>
            <a:r>
              <a:t>Outros crimes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36792" y="5056632"/>
            <a:ext cx="21854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5C6F80"/>
                </a:solidFill>
              </a:defRPr>
            </a:pPr>
            <a:r>
              <a:t>Acesso direto ao fluxo de denúncia com categoria pré-selecionada.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961119" y="4343400"/>
            <a:ext cx="2514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9098280" y="4507992"/>
            <a:ext cx="438912" cy="438912"/>
          </a:xfrm>
          <a:prstGeom prst="roundRect">
            <a:avLst/>
          </a:prstGeom>
          <a:solidFill>
            <a:srgbClr val="24A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74351" y="450799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7365F"/>
                </a:solidFill>
              </a:defRPr>
            </a:pPr>
            <a:r>
              <a:t>Outras informações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25711" y="5056632"/>
            <a:ext cx="21854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5C6F80"/>
                </a:solidFill>
              </a:defRPr>
            </a:pPr>
            <a:r>
              <a:t>Acesso direto ao fluxo de denúncia com categoria pré-selecionada.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5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11480" y="6647688"/>
            <a:ext cx="112471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FFFFFF"/>
                </a:solidFill>
              </a:defRPr>
            </a:pPr>
            <a:r>
              <a:t>PORTAL 181  |  Anonimato • Segurança • Cidadania • Resultados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07365F"/>
                </a:solidFill>
              </a:defRPr>
            </a:pPr>
            <a:r>
              <a:t>RESULTADOS E NOTÍCIAS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786384"/>
            <a:ext cx="10515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C6F80"/>
                </a:solidFill>
              </a:defRPr>
            </a:pPr>
            <a:r>
              <a:t>O portal também presta contas à sociedade e fortalece a cultura de colaboração.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310896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100">
                <a:solidFill>
                  <a:srgbClr val="07365F"/>
                </a:solidFill>
              </a:defRPr>
            </a:pPr>
            <a:r>
              <a:t>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81912"/>
            <a:ext cx="438912" cy="438912"/>
          </a:xfrm>
          <a:prstGeom prst="roundRect">
            <a:avLst/>
          </a:prstGeom>
          <a:solidFill>
            <a:srgbClr val="24A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07592" y="1581912"/>
            <a:ext cx="4434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7365F"/>
                </a:solidFill>
              </a:defRPr>
            </a:pPr>
            <a:r>
              <a:t>RESULTADOS DO 181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130552"/>
            <a:ext cx="497433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5C6F80"/>
                </a:solidFill>
              </a:defRPr>
            </a:pPr>
            <a:r>
              <a:t>Publicação de operações, prisões, apreensões, recuperação de veículos, localização de desaparecidos e outros resultados divulgáveis.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55080" y="1581912"/>
            <a:ext cx="438912" cy="438912"/>
          </a:xfrm>
          <a:prstGeom prst="round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31152" y="1581912"/>
            <a:ext cx="4434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7365F"/>
                </a:solidFill>
              </a:defRPr>
            </a:pPr>
            <a:r>
              <a:t>NOTÍCIAS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2512" y="2130552"/>
            <a:ext cx="497433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5C6F80"/>
                </a:solidFill>
              </a:defRPr>
            </a:pPr>
            <a:r>
              <a:t>Campanhas, alertas, orientações, ações institucionais e informações de utilidade pública.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657600"/>
            <a:ext cx="53035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3822191"/>
            <a:ext cx="438912" cy="438912"/>
          </a:xfrm>
          <a:prstGeom prst="roundRect">
            <a:avLst/>
          </a:prstGeom>
          <a:solidFill>
            <a:srgbClr val="073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07592" y="3822191"/>
            <a:ext cx="4434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7365F"/>
                </a:solidFill>
              </a:defRPr>
            </a:pPr>
            <a:r>
              <a:t>INDICADORES PÚBLICOS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" y="4370832"/>
            <a:ext cx="4974336" cy="685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5C6F80"/>
                </a:solidFill>
              </a:defRPr>
            </a:pPr>
            <a:r>
              <a:t>Quando autorizado: totais agregados, evolução de resultados e estatísticas sem exposição de dados sensíveis.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657600"/>
            <a:ext cx="53035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55080" y="3822191"/>
            <a:ext cx="438912" cy="438912"/>
          </a:xfrm>
          <a:prstGeom prst="round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31152" y="3822191"/>
            <a:ext cx="4434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7365F"/>
                </a:solidFill>
              </a:defRPr>
            </a:pPr>
            <a:r>
              <a:t>CONTEÚDO MULTIMÍDIA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4370832"/>
            <a:ext cx="4974336" cy="685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5C6F80"/>
                </a:solidFill>
              </a:defRPr>
            </a:pPr>
            <a:r>
              <a:t>Banners, imagens, vídeos, cards de campanhas e chamadas de conscientização.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5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6647688"/>
            <a:ext cx="112471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FFFFFF"/>
                </a:solidFill>
              </a:defRPr>
            </a:pPr>
            <a:r>
              <a:t>PORTAL 181  |  Anonimato • Segurança • Cidadania • Resultados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07365F"/>
                </a:solidFill>
              </a:defRPr>
            </a:pPr>
            <a:r>
              <a:t>ANONIMATO, SEGURANÇA E ACESSIBILIDADE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786384"/>
            <a:ext cx="10515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C6F80"/>
                </a:solidFill>
              </a:defRPr>
            </a:pPr>
            <a:r>
              <a:t>Confiança é parte essencial da experiência do Portal 181.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310896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100">
                <a:solidFill>
                  <a:srgbClr val="07365F"/>
                </a:solidFill>
              </a:defRPr>
            </a:pPr>
            <a:r>
              <a:t>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71600"/>
            <a:ext cx="265176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36192"/>
            <a:ext cx="438912" cy="438912"/>
          </a:xfrm>
          <a:prstGeom prst="round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07592" y="1536192"/>
            <a:ext cx="178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7365F"/>
                </a:solidFill>
              </a:defRPr>
            </a:pPr>
            <a:r>
              <a:t>ANONIMATO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084832"/>
            <a:ext cx="2322576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5C6F80"/>
                </a:solidFill>
              </a:defRPr>
            </a:pPr>
            <a:r>
              <a:t>O fluxo público pode ser desenhado sem exigir nome, CPF, e-mail ou cadastro do denunciante.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371600"/>
            <a:ext cx="265176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566160" y="1536192"/>
            <a:ext cx="438912" cy="438912"/>
          </a:xfrm>
          <a:prstGeom prst="round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42232" y="1536192"/>
            <a:ext cx="178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7365F"/>
                </a:solidFill>
              </a:defRPr>
            </a:pPr>
            <a:r>
              <a:t>SEGURANÇA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93592" y="2084832"/>
            <a:ext cx="2322576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5C6F80"/>
                </a:solidFill>
              </a:defRPr>
            </a:pPr>
            <a:r>
              <a:t>HTTPS, proteção de anexos, autenticação administrativa, logs e políticas de acesso.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371600"/>
            <a:ext cx="265176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0" y="1536192"/>
            <a:ext cx="438912" cy="438912"/>
          </a:xfrm>
          <a:prstGeom prst="roundRect">
            <a:avLst/>
          </a:prstGeom>
          <a:solidFill>
            <a:srgbClr val="073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76872" y="1536192"/>
            <a:ext cx="178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7365F"/>
                </a:solidFill>
              </a:defRPr>
            </a:pPr>
            <a:r>
              <a:t>SIGILO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1" y="2084832"/>
            <a:ext cx="2322576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5C6F80"/>
                </a:solidFill>
              </a:defRPr>
            </a:pPr>
            <a:r>
              <a:t>Separação entre conteúdo público e informações internas; exposição mínima necessária.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371600"/>
            <a:ext cx="246888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235440" y="1536192"/>
            <a:ext cx="438912" cy="438912"/>
          </a:xfrm>
          <a:prstGeom prst="roundRect">
            <a:avLst/>
          </a:prstGeom>
          <a:solidFill>
            <a:srgbClr val="24A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11511" y="1536192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7365F"/>
                </a:solidFill>
              </a:defRPr>
            </a:pPr>
            <a:r>
              <a:t>ACESSIBILIDADE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62872" y="2084832"/>
            <a:ext cx="2139696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5C6F80"/>
                </a:solidFill>
              </a:defRPr>
            </a:pPr>
            <a:r>
              <a:t>Layout responsivo, contraste, teclado, leitores de tela, linguagem simples e dispositivos móveis.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5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6647688"/>
            <a:ext cx="112471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FFFFFF"/>
                </a:solidFill>
              </a:defRPr>
            </a:pPr>
            <a:r>
              <a:t>PORTAL 181  |  Anonimato • Segurança • Cidadania • Resultados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07365F"/>
                </a:solidFill>
              </a:defRPr>
            </a:pPr>
            <a:r>
              <a:t>PAINEL ADMINISTRATIVO - CMS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786384"/>
            <a:ext cx="10515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C6F80"/>
                </a:solidFill>
              </a:defRPr>
            </a:pPr>
            <a:r>
              <a:t>A equipe do 181 administra o conteúdo sem depender de alterações no código.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310896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100">
                <a:solidFill>
                  <a:srgbClr val="07365F"/>
                </a:solidFill>
              </a:defRPr>
            </a:pPr>
            <a:r>
              <a:t>13</a:t>
            </a:r>
          </a:p>
        </p:txBody>
      </p:sp>
      <p:pic>
        <p:nvPicPr>
          <p:cNvPr id="5" name="Picture 4" descr="3867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0379" y="1097280"/>
            <a:ext cx="4827121" cy="5074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05233E"/>
                </a:solidFill>
              </a:defRPr>
            </a:pPr>
            <a:r>
              <a:t>• Dashboard</a:t>
            </a:r>
          </a:p>
          <a:p>
            <a:pPr>
              <a:spcAft>
                <a:spcPts val="900"/>
              </a:spcAft>
              <a:defRPr sz="1300">
                <a:solidFill>
                  <a:srgbClr val="05233E"/>
                </a:solidFill>
              </a:defRPr>
            </a:pPr>
            <a:r>
              <a:t>• Notícias e banners</a:t>
            </a:r>
          </a:p>
          <a:p>
            <a:pPr>
              <a:spcAft>
                <a:spcPts val="900"/>
              </a:spcAft>
              <a:defRPr sz="1300">
                <a:solidFill>
                  <a:srgbClr val="05233E"/>
                </a:solidFill>
              </a:defRPr>
            </a:pPr>
            <a:r>
              <a:t>• Procurados</a:t>
            </a:r>
          </a:p>
          <a:p>
            <a:pPr>
              <a:spcAft>
                <a:spcPts val="900"/>
              </a:spcAft>
              <a:defRPr sz="1300">
                <a:solidFill>
                  <a:srgbClr val="05233E"/>
                </a:solidFill>
              </a:defRPr>
            </a:pPr>
            <a:r>
              <a:t>• Baralho do Crime</a:t>
            </a:r>
          </a:p>
          <a:p>
            <a:pPr>
              <a:spcAft>
                <a:spcPts val="900"/>
              </a:spcAft>
              <a:defRPr sz="1300">
                <a:solidFill>
                  <a:srgbClr val="05233E"/>
                </a:solidFill>
              </a:defRPr>
            </a:pPr>
            <a:r>
              <a:t>• Desaparecidos</a:t>
            </a:r>
          </a:p>
          <a:p>
            <a:pPr>
              <a:spcAft>
                <a:spcPts val="900"/>
              </a:spcAft>
              <a:defRPr sz="1300">
                <a:solidFill>
                  <a:srgbClr val="05233E"/>
                </a:solidFill>
              </a:defRPr>
            </a:pPr>
            <a:r>
              <a:t>• Recompensas</a:t>
            </a:r>
          </a:p>
          <a:p>
            <a:pPr>
              <a:spcAft>
                <a:spcPts val="900"/>
              </a:spcAft>
              <a:defRPr sz="1300">
                <a:solidFill>
                  <a:srgbClr val="05233E"/>
                </a:solidFill>
              </a:defRPr>
            </a:pPr>
            <a:r>
              <a:t>• Resultados</a:t>
            </a:r>
          </a:p>
          <a:p>
            <a:pPr>
              <a:spcAft>
                <a:spcPts val="900"/>
              </a:spcAft>
              <a:defRPr sz="1300">
                <a:solidFill>
                  <a:srgbClr val="05233E"/>
                </a:solidFill>
              </a:defRPr>
            </a:pPr>
            <a:r>
              <a:t>• Categorias e temas</a:t>
            </a:r>
          </a:p>
          <a:p>
            <a:pPr>
              <a:spcAft>
                <a:spcPts val="900"/>
              </a:spcAft>
              <a:defRPr sz="1300">
                <a:solidFill>
                  <a:srgbClr val="05233E"/>
                </a:solidFill>
              </a:defRPr>
            </a:pPr>
            <a:r>
              <a:t>• Páginas institucionais</a:t>
            </a:r>
          </a:p>
          <a:p>
            <a:pPr>
              <a:spcAft>
                <a:spcPts val="900"/>
              </a:spcAft>
              <a:defRPr sz="1300">
                <a:solidFill>
                  <a:srgbClr val="05233E"/>
                </a:solidFill>
              </a:defRPr>
            </a:pPr>
            <a:r>
              <a:t>• Usuários e permissões</a:t>
            </a:r>
          </a:p>
          <a:p>
            <a:pPr>
              <a:spcAft>
                <a:spcPts val="900"/>
              </a:spcAft>
              <a:defRPr sz="1300">
                <a:solidFill>
                  <a:srgbClr val="05233E"/>
                </a:solidFill>
              </a:defRPr>
            </a:pPr>
            <a:r>
              <a:t>• Relatórios</a:t>
            </a:r>
          </a:p>
          <a:p>
            <a:pPr>
              <a:spcAft>
                <a:spcPts val="900"/>
              </a:spcAft>
              <a:defRPr sz="1300">
                <a:solidFill>
                  <a:srgbClr val="05233E"/>
                </a:solidFill>
              </a:defRPr>
            </a:pPr>
            <a:r>
              <a:t>• Configurações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5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647688"/>
            <a:ext cx="112471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FFFFFF"/>
                </a:solidFill>
              </a:defRPr>
            </a:pPr>
            <a:r>
              <a:t>PORTAL 181  |  Anonimato • Segurança • Cidadania • Resultados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07365F"/>
                </a:solidFill>
              </a:defRPr>
            </a:pPr>
            <a:r>
              <a:t>DASHBOARD E INDICADORES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786384"/>
            <a:ext cx="10515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C6F80"/>
                </a:solidFill>
              </a:defRPr>
            </a:pPr>
            <a:r>
              <a:t>Visão gerencial do uso do portal e dos conteúdos mais relevantes.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310896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100">
                <a:solidFill>
                  <a:srgbClr val="07365F"/>
                </a:solidFill>
              </a:defRPr>
            </a:pPr>
            <a:r>
              <a:t>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25146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90472"/>
            <a:ext cx="438912" cy="438912"/>
          </a:xfrm>
          <a:prstGeom prst="round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07592" y="149047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7365F"/>
                </a:solidFill>
              </a:defRPr>
            </a:pPr>
            <a:r>
              <a:t>VISITAS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039112"/>
            <a:ext cx="218541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5C6F80"/>
                </a:solidFill>
              </a:defRPr>
            </a:pPr>
            <a:r>
              <a:t>125.430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79" y="1325880"/>
            <a:ext cx="25146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520439" y="1490472"/>
            <a:ext cx="438912" cy="438912"/>
          </a:xfrm>
          <a:prstGeom prst="round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96511" y="149047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7365F"/>
                </a:solidFill>
              </a:defRPr>
            </a:pPr>
            <a:r>
              <a:t>DENÚNCIAS DIGITAIS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7872" y="2039112"/>
            <a:ext cx="218541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5C6F80"/>
                </a:solidFill>
              </a:defRPr>
            </a:pPr>
            <a:r>
              <a:t>4.892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325880"/>
            <a:ext cx="25146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09360" y="1490472"/>
            <a:ext cx="438912" cy="438912"/>
          </a:xfrm>
          <a:prstGeom prst="roundRect">
            <a:avLst/>
          </a:prstGeom>
          <a:solidFill>
            <a:srgbClr val="073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85432" y="149047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7365F"/>
                </a:solidFill>
              </a:defRPr>
            </a:pPr>
            <a:r>
              <a:t>PROCURADOS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36792" y="2039112"/>
            <a:ext cx="218541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5C6F80"/>
                </a:solidFill>
              </a:defRPr>
            </a:pPr>
            <a:r>
              <a:t>320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19" y="1325880"/>
            <a:ext cx="25146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098280" y="1490472"/>
            <a:ext cx="438912" cy="438912"/>
          </a:xfrm>
          <a:prstGeom prst="roundRect">
            <a:avLst/>
          </a:prstGeom>
          <a:solidFill>
            <a:srgbClr val="24A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74351" y="149047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7365F"/>
                </a:solidFill>
              </a:defRPr>
            </a:pPr>
            <a:r>
              <a:t>DESAPARECIDOS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25711" y="2039112"/>
            <a:ext cx="218541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5C6F80"/>
                </a:solidFill>
              </a:defRPr>
            </a:pPr>
            <a:r>
              <a:t>210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108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7365F"/>
                </a:solidFill>
              </a:defRPr>
            </a:pPr>
            <a:r>
              <a:t>Denúncias por natureza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65760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5C6F80"/>
                </a:solidFill>
              </a:defRPr>
            </a:pPr>
            <a:r>
              <a:t>Tráfico de drogas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3685032"/>
            <a:ext cx="4206240" cy="118872"/>
          </a:xfrm>
          <a:prstGeom prst="rect">
            <a:avLst/>
          </a:prstGeom>
          <a:solidFill>
            <a:srgbClr val="DA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0" y="3685032"/>
            <a:ext cx="3449116" cy="118872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86600" y="365760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7365F"/>
                </a:solidFill>
              </a:defRPr>
            </a:pPr>
            <a:r>
              <a:t>82%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04164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5C6F80"/>
                </a:solidFill>
              </a:defRPr>
            </a:pPr>
            <a:r>
              <a:t>Roubo e furto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0" y="4069080"/>
            <a:ext cx="4206240" cy="118872"/>
          </a:xfrm>
          <a:prstGeom prst="rect">
            <a:avLst/>
          </a:prstGeom>
          <a:solidFill>
            <a:srgbClr val="DA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743200" y="4069080"/>
            <a:ext cx="2439619" cy="118872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86600" y="404164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7365F"/>
                </a:solidFill>
              </a:defRPr>
            </a:pPr>
            <a:r>
              <a:t>57%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4425696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5C6F80"/>
                </a:solidFill>
              </a:defRPr>
            </a:pPr>
            <a:r>
              <a:t>Violência contra a mulher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0" y="4453128"/>
            <a:ext cx="4206240" cy="118872"/>
          </a:xfrm>
          <a:prstGeom prst="rect">
            <a:avLst/>
          </a:prstGeom>
          <a:solidFill>
            <a:srgbClr val="DA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743200" y="4453128"/>
            <a:ext cx="1808683" cy="118872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86600" y="442569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7365F"/>
                </a:solidFill>
              </a:defRPr>
            </a:pPr>
            <a:r>
              <a:t>43%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4809744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5C6F80"/>
                </a:solidFill>
              </a:defRPr>
            </a:pPr>
            <a:r>
              <a:t>Armas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0" y="4837176"/>
            <a:ext cx="4206240" cy="118872"/>
          </a:xfrm>
          <a:prstGeom prst="rect">
            <a:avLst/>
          </a:prstGeom>
          <a:solidFill>
            <a:srgbClr val="DA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743200" y="4837176"/>
            <a:ext cx="1303934" cy="118872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86600" y="480974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7365F"/>
                </a:solidFill>
              </a:defRPr>
            </a:pPr>
            <a:r>
              <a:t>31%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519379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5C6F80"/>
                </a:solidFill>
              </a:defRPr>
            </a:pPr>
            <a:r>
              <a:t>Crime ambiental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0" y="5221224"/>
            <a:ext cx="4206240" cy="118872"/>
          </a:xfrm>
          <a:prstGeom prst="rect">
            <a:avLst/>
          </a:prstGeom>
          <a:solidFill>
            <a:srgbClr val="DA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743200" y="5221224"/>
            <a:ext cx="1009497" cy="118872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86600" y="519379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7365F"/>
                </a:solidFill>
              </a:defRPr>
            </a:pPr>
            <a:r>
              <a:t>24%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" y="557784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5C6F80"/>
                </a:solidFill>
              </a:defRPr>
            </a:pPr>
            <a:r>
              <a:t>Outros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0" y="5605272"/>
            <a:ext cx="4206240" cy="118872"/>
          </a:xfrm>
          <a:prstGeom prst="rect">
            <a:avLst/>
          </a:prstGeom>
          <a:solidFill>
            <a:srgbClr val="DAE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743200" y="5605272"/>
            <a:ext cx="2018995" cy="118872"/>
          </a:xfrm>
          <a:prstGeom prst="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086600" y="557784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7365F"/>
                </a:solidFill>
              </a:defRPr>
            </a:pPr>
            <a:r>
              <a:t>48%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229600" y="3246120"/>
            <a:ext cx="324612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8366760" y="3410712"/>
            <a:ext cx="438912" cy="438912"/>
          </a:xfrm>
          <a:prstGeom prst="roundRect">
            <a:avLst/>
          </a:prstGeom>
          <a:solidFill>
            <a:srgbClr val="073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942832" y="3410712"/>
            <a:ext cx="2377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7365F"/>
                </a:solidFill>
              </a:defRPr>
            </a:pPr>
            <a:r>
              <a:t>RELATÓRIOS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94192" y="3959352"/>
            <a:ext cx="2916936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5C6F80"/>
                </a:solidFill>
              </a:defRPr>
            </a:pPr>
            <a:r>
              <a:t>Acesso, conversão, assuntos mais denunciados, páginas mais visualizadas, casos mais consultados e evolução temporal.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5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11480" y="6647688"/>
            <a:ext cx="112471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FFFFFF"/>
                </a:solidFill>
              </a:defRPr>
            </a:pPr>
            <a:r>
              <a:t>PORTAL 181  |  Anonimato • Segurança • Cidadania • Resultados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07365F"/>
                </a:solidFill>
              </a:defRPr>
            </a:pPr>
            <a:r>
              <a:t>ARQUITETURA E INTEGRAÇÃO FUTURA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786384"/>
            <a:ext cx="10515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C6F80"/>
                </a:solidFill>
              </a:defRPr>
            </a:pPr>
            <a:r>
              <a:t>O Portal 181 pode nascer independente e evoluir sem perda de investimento.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310896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100">
                <a:solidFill>
                  <a:srgbClr val="07365F"/>
                </a:solidFill>
              </a:defRPr>
            </a:pPr>
            <a:r>
              <a:t>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65960"/>
            <a:ext cx="17830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0D6E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295144"/>
            <a:ext cx="1783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7365F"/>
                </a:solidFill>
              </a:defRPr>
            </a:pPr>
            <a:r>
              <a:t>CIDADÃO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1965960"/>
            <a:ext cx="17830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0D6E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0" y="2295144"/>
            <a:ext cx="1783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7365F"/>
                </a:solidFill>
              </a:defRPr>
            </a:pPr>
            <a:r>
              <a:t>PORTAL 181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2080" y="1965960"/>
            <a:ext cx="17830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0D6E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0" y="2295144"/>
            <a:ext cx="1783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7365F"/>
                </a:solidFill>
              </a:defRPr>
            </a:pPr>
            <a:r>
              <a:t>API / SERVIÇOS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79" y="1965960"/>
            <a:ext cx="17830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0D6E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2295144"/>
            <a:ext cx="1783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7365F"/>
                </a:solidFill>
              </a:defRPr>
            </a:pPr>
            <a:r>
              <a:t>BASE DO PORTAL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784080" y="1965960"/>
            <a:ext cx="17830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0D6E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80" y="2295144"/>
            <a:ext cx="1783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7365F"/>
                </a:solidFill>
              </a:defRPr>
            </a:pPr>
            <a:r>
              <a:t>DENÚNCIA 4.0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600" y="222199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0D6EFD"/>
                </a:solidFill>
              </a:defRPr>
            </a:pPr>
            <a: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22199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0D6EFD"/>
                </a:solidFill>
              </a:defRPr>
            </a:pPr>
            <a: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222199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0D6EFD"/>
                </a:solidFill>
              </a:defRPr>
            </a:pPr>
            <a: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72600" y="222199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0D6EFD"/>
                </a:solidFill>
              </a:defRPr>
            </a:pPr>
            <a: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4903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D1C24"/>
                </a:solidFill>
              </a:defRPr>
            </a:pPr>
            <a:r>
              <a:t>FASE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16052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F80"/>
                </a:solidFill>
              </a:defRPr>
            </a:pPr>
            <a:r>
              <a:t>Portal público + CMS + denúncia digital + protocolo + conteúdos.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374903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D6EFD"/>
                </a:solidFill>
              </a:defRPr>
            </a:pPr>
            <a:r>
              <a:t>FASE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416052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F80"/>
                </a:solidFill>
              </a:defRPr>
            </a:pPr>
            <a:r>
              <a:t>Integração por APIs com a operação interna, inteligência, difusão e acompanhamento do Denúncia 4.0.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5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6647688"/>
            <a:ext cx="112471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FFFFFF"/>
                </a:solidFill>
              </a:defRPr>
            </a:pPr>
            <a:r>
              <a:t>PORTAL 181  |  Anonimato • Segurança • Cidadania • Resultados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07365F"/>
                </a:solidFill>
              </a:defRPr>
            </a:pPr>
            <a:r>
              <a:t>ESCOPO FUNCIONAL CONSOLIDADO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786384"/>
            <a:ext cx="10515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C6F80"/>
                </a:solidFill>
              </a:defRPr>
            </a:pPr>
            <a:r>
              <a:t>Componentes previstos para uma versão completa do Portal 181.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310896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100">
                <a:solidFill>
                  <a:srgbClr val="07365F"/>
                </a:solidFill>
              </a:defRPr>
            </a:pPr>
            <a: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05233E"/>
                </a:solidFill>
              </a:defRPr>
            </a:pPr>
            <a:r>
              <a:t>• Home responsiva</a:t>
            </a:r>
          </a:p>
          <a:p>
            <a:pPr>
              <a:spcAft>
                <a:spcPts val="900"/>
              </a:spcAft>
              <a:defRPr sz="1400">
                <a:solidFill>
                  <a:srgbClr val="05233E"/>
                </a:solidFill>
              </a:defRPr>
            </a:pPr>
            <a:r>
              <a:t>• Denúncia anônima passo a passo</a:t>
            </a:r>
          </a:p>
          <a:p>
            <a:pPr>
              <a:spcAft>
                <a:spcPts val="900"/>
              </a:spcAft>
              <a:defRPr sz="1400">
                <a:solidFill>
                  <a:srgbClr val="05233E"/>
                </a:solidFill>
              </a:defRPr>
            </a:pPr>
            <a:r>
              <a:t>• Protocolo e consulta</a:t>
            </a:r>
          </a:p>
          <a:p>
            <a:pPr>
              <a:spcAft>
                <a:spcPts val="900"/>
              </a:spcAft>
              <a:defRPr sz="1400">
                <a:solidFill>
                  <a:srgbClr val="05233E"/>
                </a:solidFill>
              </a:defRPr>
            </a:pPr>
            <a:r>
              <a:t>• Complementação da denúncia</a:t>
            </a:r>
          </a:p>
          <a:p>
            <a:pPr>
              <a:spcAft>
                <a:spcPts val="900"/>
              </a:spcAft>
              <a:defRPr sz="1400">
                <a:solidFill>
                  <a:srgbClr val="05233E"/>
                </a:solidFill>
              </a:defRPr>
            </a:pPr>
            <a:r>
              <a:t>• Procurados</a:t>
            </a:r>
          </a:p>
          <a:p>
            <a:pPr>
              <a:spcAft>
                <a:spcPts val="900"/>
              </a:spcAft>
              <a:defRPr sz="1400">
                <a:solidFill>
                  <a:srgbClr val="05233E"/>
                </a:solidFill>
              </a:defRPr>
            </a:pPr>
            <a:r>
              <a:t>• Baralho do Crime</a:t>
            </a:r>
          </a:p>
          <a:p>
            <a:pPr>
              <a:spcAft>
                <a:spcPts val="900"/>
              </a:spcAft>
              <a:defRPr sz="1400">
                <a:solidFill>
                  <a:srgbClr val="05233E"/>
                </a:solidFill>
              </a:defRPr>
            </a:pPr>
            <a:r>
              <a:t>• Desaparecidos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4173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05233E"/>
                </a:solidFill>
              </a:defRPr>
            </a:pPr>
            <a:r>
              <a:t>• Recompensas</a:t>
            </a:r>
          </a:p>
          <a:p>
            <a:pPr>
              <a:spcAft>
                <a:spcPts val="900"/>
              </a:spcAft>
              <a:defRPr sz="1400">
                <a:solidFill>
                  <a:srgbClr val="05233E"/>
                </a:solidFill>
              </a:defRPr>
            </a:pPr>
            <a:r>
              <a:t>• Denúncias por tema</a:t>
            </a:r>
          </a:p>
          <a:p>
            <a:pPr>
              <a:spcAft>
                <a:spcPts val="900"/>
              </a:spcAft>
              <a:defRPr sz="1400">
                <a:solidFill>
                  <a:srgbClr val="05233E"/>
                </a:solidFill>
              </a:defRPr>
            </a:pPr>
            <a:r>
              <a:t>• Resultados</a:t>
            </a:r>
          </a:p>
          <a:p>
            <a:pPr>
              <a:spcAft>
                <a:spcPts val="900"/>
              </a:spcAft>
              <a:defRPr sz="1400">
                <a:solidFill>
                  <a:srgbClr val="05233E"/>
                </a:solidFill>
              </a:defRPr>
            </a:pPr>
            <a:r>
              <a:t>• Notícias e campanhas</a:t>
            </a:r>
          </a:p>
          <a:p>
            <a:pPr>
              <a:spcAft>
                <a:spcPts val="900"/>
              </a:spcAft>
              <a:defRPr sz="1400">
                <a:solidFill>
                  <a:srgbClr val="05233E"/>
                </a:solidFill>
              </a:defRPr>
            </a:pPr>
            <a:r>
              <a:t>• Páginas institucionais / FAQ</a:t>
            </a:r>
          </a:p>
          <a:p>
            <a:pPr>
              <a:spcAft>
                <a:spcPts val="900"/>
              </a:spcAft>
              <a:defRPr sz="1400">
                <a:solidFill>
                  <a:srgbClr val="05233E"/>
                </a:solidFill>
              </a:defRPr>
            </a:pPr>
            <a:r>
              <a:t>• CMS administrativo</a:t>
            </a:r>
          </a:p>
          <a:p>
            <a:pPr>
              <a:spcAft>
                <a:spcPts val="900"/>
              </a:spcAft>
              <a:defRPr sz="1400">
                <a:solidFill>
                  <a:srgbClr val="05233E"/>
                </a:solidFill>
              </a:defRPr>
            </a:pPr>
            <a:r>
              <a:t>• Dashboard, relatórios e usuários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5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647688"/>
            <a:ext cx="112471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FFFFFF"/>
                </a:solidFill>
              </a:defRPr>
            </a:pPr>
            <a:r>
              <a:t>PORTAL 181  |  Anonimato • Segurança • Cidadania • Resultados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07365F"/>
                </a:solidFill>
              </a:defRPr>
            </a:pPr>
            <a:r>
              <a:t>EXPERIÊNCIA MOBILE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786384"/>
            <a:ext cx="10515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C6F80"/>
                </a:solidFill>
              </a:defRPr>
            </a:pPr>
            <a:r>
              <a:t>O portal deve funcionar plenamente em celular, sem depender de aplicativo.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310896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100">
                <a:solidFill>
                  <a:srgbClr val="07365F"/>
                </a:solidFill>
              </a:defRPr>
            </a:pPr>
            <a:r>
              <a:t>17</a:t>
            </a:r>
          </a:p>
        </p:txBody>
      </p:sp>
      <p:pic>
        <p:nvPicPr>
          <p:cNvPr id="5" name="Picture 4" descr="3867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929" y="1051560"/>
            <a:ext cx="2406461" cy="53492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0" y="1325880"/>
            <a:ext cx="31546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709160" y="1490472"/>
            <a:ext cx="438912" cy="438912"/>
          </a:xfrm>
          <a:prstGeom prst="roundRect">
            <a:avLst/>
          </a:prstGeom>
          <a:solidFill>
            <a:srgbClr val="0D6E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85232" y="149047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7365F"/>
                </a:solidFill>
              </a:defRPr>
            </a:pPr>
            <a:r>
              <a:t>MOBILE FIRST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36592" y="2039112"/>
            <a:ext cx="282549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5C6F80"/>
                </a:solidFill>
              </a:defRPr>
            </a:pPr>
            <a:r>
              <a:t>Botões grandes, leitura rápida e formulários adequados a telas pequenas.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1000" y="1325880"/>
            <a:ext cx="31546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138160" y="1490472"/>
            <a:ext cx="438912" cy="438912"/>
          </a:xfrm>
          <a:prstGeom prst="round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14232" y="149047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7365F"/>
                </a:solidFill>
              </a:defRPr>
            </a:pPr>
            <a:r>
              <a:t>ACESSO DIRETO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65592" y="2039112"/>
            <a:ext cx="282549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5C6F80"/>
                </a:solidFill>
              </a:defRPr>
            </a:pPr>
            <a:r>
              <a:t>Denunciar, acompanhar protocolo e ligar 181 sempre em destaque.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3108960"/>
            <a:ext cx="31546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709160" y="3273552"/>
            <a:ext cx="438912" cy="438912"/>
          </a:xfrm>
          <a:prstGeom prst="roundRect">
            <a:avLst/>
          </a:prstGeom>
          <a:solidFill>
            <a:srgbClr val="24A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85232" y="327355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7365F"/>
                </a:solidFill>
              </a:defRPr>
            </a:pPr>
            <a:r>
              <a:t>ANEXOS DO CELULAR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6592" y="3822191"/>
            <a:ext cx="282549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5C6F80"/>
                </a:solidFill>
              </a:defRPr>
            </a:pPr>
            <a:r>
              <a:t>Uso de câmera, galeria e arquivos do dispositivo quando permitido.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3108960"/>
            <a:ext cx="31546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A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138160" y="3273552"/>
            <a:ext cx="438912" cy="438912"/>
          </a:xfrm>
          <a:prstGeom prst="roundRect">
            <a:avLst/>
          </a:prstGeom>
          <a:solidFill>
            <a:srgbClr val="073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14232" y="327355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7365F"/>
                </a:solidFill>
              </a:defRPr>
            </a:pPr>
            <a:r>
              <a:t>SEM INSTALAÇÃO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5592" y="3822191"/>
            <a:ext cx="282549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5C6F80"/>
                </a:solidFill>
              </a:defRPr>
            </a:pPr>
            <a:r>
              <a:t>Acesso pelo navegador e possibilidade de evolução para PWA, se desejado.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5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6647688"/>
            <a:ext cx="112471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FFFFFF"/>
                </a:solidFill>
              </a:defRPr>
            </a:pPr>
            <a:r>
              <a:t>PORTAL 181  |  Anonimato • Segurança • Cidadania • Resultados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_wide_cinematic_dusk_nighttime_cityscape_backg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5943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900" b="1">
                <a:solidFill>
                  <a:srgbClr val="FFFFFF"/>
                </a:solidFill>
              </a:defRPr>
            </a:pPr>
            <a:r>
              <a:t>PORTAL 181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92024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ED1C24"/>
                </a:solidFill>
              </a:defRPr>
            </a:pPr>
            <a:r>
              <a:t>VIU? SABE? DENUNCIE.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06040"/>
            <a:ext cx="6766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Sua informação pode fazer a diferença.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154680"/>
            <a:ext cx="6400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t>Um portal digital para aproximar o cidadão do Disque Denúncia com anonimato, segurança, informação e serviços públicos em um único ambiente.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1663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ANÔNIMO  •  SEGURO  •  SIGILOSO  •  ACESSÍVEL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